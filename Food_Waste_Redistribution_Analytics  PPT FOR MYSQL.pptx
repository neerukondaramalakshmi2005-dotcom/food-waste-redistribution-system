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73" r:id="rId7"/>
    <p:sldId id="274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2418" autoAdjust="0"/>
  </p:normalViewPr>
  <p:slideViewPr>
    <p:cSldViewPr snapToGrid="0" snapToObjects="1">
      <p:cViewPr varScale="1">
        <p:scale>
          <a:sx n="76" d="100"/>
          <a:sy n="76" d="100"/>
        </p:scale>
        <p:origin x="917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2372A"/>
                </a:solidFill>
                <a:latin typeface="Calibri"/>
              </a:defRPr>
            </a:pPr>
            <a:r>
              <a:rPr lang="en-US" sz="1400" b="0" i="0" u="none" strike="noStrike">
                <a:solidFill>
                  <a:srgbClr val="12372A"/>
                </a:solidFill>
                <a:latin typeface="Calibri"/>
              </a:rPr>
              <a:t>Stock held vs capacity (units)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Stock held</c:v>
                </c:pt>
              </c:strCache>
            </c:strRef>
          </c:tx>
          <c:spPr>
            <a:solidFill>
              <a:srgbClr val="2E7D4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F2A24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Central</c:v>
                </c:pt>
                <c:pt idx="1">
                  <c:v>North</c:v>
                </c:pt>
                <c:pt idx="2">
                  <c:v>Community Hub</c:v>
                </c:pt>
                <c:pt idx="3">
                  <c:v>South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800</c:v>
                </c:pt>
                <c:pt idx="1">
                  <c:v>350</c:v>
                </c:pt>
                <c:pt idx="2">
                  <c:v>220</c:v>
                </c:pt>
                <c:pt idx="3">
                  <c:v>430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DA9-49F6-B700-F1840052618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Capacity</c:v>
                </c:pt>
              </c:strCache>
            </c:strRef>
          </c:tx>
          <c:spPr>
            <a:solidFill>
              <a:srgbClr val="C9D8C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F2A24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Central</c:v>
                </c:pt>
                <c:pt idx="1">
                  <c:v>North</c:v>
                </c:pt>
                <c:pt idx="2">
                  <c:v>Community Hub</c:v>
                </c:pt>
                <c:pt idx="3">
                  <c:v>South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1000</c:v>
                </c:pt>
                <c:pt idx="1">
                  <c:v>800</c:v>
                </c:pt>
                <c:pt idx="2">
                  <c:v>600</c:v>
                </c:pt>
                <c:pt idx="3">
                  <c:v>700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DA9-49F6-B700-F1840052618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6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B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6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F2A24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53395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FAO figure is a widely cited global estimate. The project is a small-scale database answer to a real logistics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Chen-style ER diagram of the implemented database. The cardinality summary in the corner lists all 8 relationships.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Stock quantities come from the FOOD_ITEMS table, grouped by category. Total stock is 1,800 units.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28.8% = 360 distributed / 1,250 donated. Based on the sample data in the SQL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371600"/>
            <a:ext cx="3291840" cy="365760"/>
          </a:xfrm>
          <a:prstGeom prst="roundRect">
            <a:avLst>
              <a:gd name="adj" fmla="val 50000"/>
            </a:avLst>
          </a:prstGeom>
          <a:solidFill>
            <a:srgbClr val="1D4D3A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3716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97BC6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MYSQL RDBMS DATA ANALYTICS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2011680"/>
            <a:ext cx="10789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Food Waste Redistribution Analytics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48640" y="32004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CADFB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Analysis of donors, food stock, collection centers, volunteers, recipients and distribution, with ER design and SQL methodology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548640" y="48463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7BC6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DOMAIN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548640" y="513892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 Analytics &amp; SQL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4297680" y="48463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7BC6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DATABASE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4297680" y="513892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(8 Relational Tables)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046720" y="48463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7BC6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TOTAL VOLUME ANALYZED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8046720" y="513892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1,250 Units Donated | 360 Distributed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PROJECT MATTERS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66531" y="640080"/>
            <a:ext cx="1126708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2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Surplus food is wasted while people go hungry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66160" cy="4480560"/>
          </a:xfrm>
          <a:prstGeom prst="roundRect">
            <a:avLst>
              <a:gd name="adj" fmla="val 2564"/>
            </a:avLst>
          </a:prstGeom>
          <a:solidFill>
            <a:srgbClr val="12372A"/>
          </a:solidFill>
          <a:ln w="12700">
            <a:solidFill>
              <a:srgbClr val="12372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10312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E88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1/3</a:t>
            </a:r>
            <a:endParaRPr lang="en-US" sz="6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38328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food produced for people is lost or wasted worldwide (FAO estimate)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57200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AD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Restaurants, hotels, caterers and supermarkets often have edible surplus, but no organised way to route it before it expires.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0" y="1554480"/>
            <a:ext cx="3383280" cy="2103120"/>
          </a:xfrm>
          <a:prstGeom prst="roundRect">
            <a:avLst>
              <a:gd name="adj" fmla="val 4348"/>
            </a:avLst>
          </a:prstGeom>
          <a:solidFill>
            <a:srgbClr val="EEF5EA"/>
          </a:solidFill>
          <a:ln w="9525">
            <a:solidFill>
              <a:srgbClr val="D5E2C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00600" y="1783080"/>
            <a:ext cx="594360" cy="594360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6904" y="1929384"/>
            <a:ext cx="301752" cy="301752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4800600" y="24688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2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Social impact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4800600" y="283464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 orphanages, old age homes, shelters and poor families with safe surplus food.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229600" y="1554480"/>
            <a:ext cx="3383280" cy="2103120"/>
          </a:xfrm>
          <a:prstGeom prst="roundRect">
            <a:avLst>
              <a:gd name="adj" fmla="val 4348"/>
            </a:avLst>
          </a:prstGeom>
          <a:solidFill>
            <a:srgbClr val="EEF5EA"/>
          </a:solidFill>
          <a:ln w="9525">
            <a:solidFill>
              <a:srgbClr val="D5E2C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458200" y="1783080"/>
            <a:ext cx="594360" cy="594360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04504" y="1929384"/>
            <a:ext cx="301752" cy="301752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8458200" y="24688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2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Environmental impact</a:t>
            </a:r>
            <a:endParaRPr lang="en-US" sz="1800" dirty="0"/>
          </a:p>
        </p:txBody>
      </p:sp>
      <p:sp>
        <p:nvSpPr>
          <p:cNvPr id="17" name="Text 13"/>
          <p:cNvSpPr txBox="1"/>
          <p:nvPr/>
        </p:nvSpPr>
        <p:spPr>
          <a:xfrm>
            <a:off x="8458200" y="283464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edible food out of landfills, cutting waste and the emissions it causes.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4572000" y="3931920"/>
            <a:ext cx="3383280" cy="2103120"/>
          </a:xfrm>
          <a:prstGeom prst="roundRect">
            <a:avLst>
              <a:gd name="adj" fmla="val 4348"/>
            </a:avLst>
          </a:prstGeom>
          <a:solidFill>
            <a:srgbClr val="EEF5EA"/>
          </a:solidFill>
          <a:ln w="9525">
            <a:solidFill>
              <a:srgbClr val="D5E2CF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4800600" y="4160520"/>
            <a:ext cx="594360" cy="594360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6904" y="4306824"/>
            <a:ext cx="301752" cy="301752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4800600" y="48463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2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Economic value</a:t>
            </a:r>
            <a:endParaRPr lang="en-US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4800600" y="52120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Donors reduce disposal cost; charities reduce what they must buy.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8229600" y="3931920"/>
            <a:ext cx="3383280" cy="2103120"/>
          </a:xfrm>
          <a:prstGeom prst="roundRect">
            <a:avLst>
              <a:gd name="adj" fmla="val 4348"/>
            </a:avLst>
          </a:prstGeom>
          <a:solidFill>
            <a:srgbClr val="EEF5EA"/>
          </a:solidFill>
          <a:ln w="9525">
            <a:solidFill>
              <a:srgbClr val="D5E2CF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8458200" y="4160520"/>
            <a:ext cx="594360" cy="594360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04504" y="4306824"/>
            <a:ext cx="301752" cy="301752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8458200" y="48463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2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Accountability</a:t>
            </a:r>
            <a:endParaRPr lang="en-US" sz="1800" dirty="0"/>
          </a:p>
        </p:txBody>
      </p:sp>
      <p:sp>
        <p:nvSpPr>
          <p:cNvPr id="27" name="Text 21"/>
          <p:cNvSpPr txBox="1"/>
          <p:nvPr/>
        </p:nvSpPr>
        <p:spPr>
          <a:xfrm>
            <a:off x="8458200" y="52120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donation and distribution is recorded, so food can be traced end to end.</a:t>
            </a:r>
            <a:endParaRPr lang="en-US" sz="1300" dirty="0"/>
          </a:p>
        </p:txBody>
      </p:sp>
      <p:sp>
        <p:nvSpPr>
          <p:cNvPr id="28" name="Text 2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Waste Redistribution System</a:t>
            </a:r>
            <a:endParaRPr lang="en-US" sz="1000" dirty="0"/>
          </a:p>
        </p:txBody>
      </p:sp>
      <p:sp>
        <p:nvSpPr>
          <p:cNvPr id="29" name="Text 23"/>
          <p:cNvSpPr txBox="1"/>
          <p:nvPr/>
        </p:nvSpPr>
        <p:spPr>
          <a:xfrm>
            <a:off x="10725912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2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food moves through the system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2377440" cy="2286000"/>
          </a:xfrm>
          <a:prstGeom prst="roundRect">
            <a:avLst>
              <a:gd name="adj" fmla="val 4000"/>
            </a:avLst>
          </a:prstGeom>
          <a:solidFill>
            <a:srgbClr val="E3EFDD"/>
          </a:solidFill>
          <a:ln w="9525">
            <a:solidFill>
              <a:srgbClr val="D5E2C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17320" y="1783080"/>
            <a:ext cx="731520" cy="731520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1965960"/>
            <a:ext cx="365760" cy="365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85800" y="2651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2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Donors donate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0632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DONORS, DONATIONS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063240" y="2514600"/>
            <a:ext cx="320040" cy="320040"/>
          </a:xfrm>
          <a:prstGeom prst="rightArrow">
            <a:avLst/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474720" y="1554480"/>
            <a:ext cx="2377440" cy="2286000"/>
          </a:xfrm>
          <a:prstGeom prst="roundRect">
            <a:avLst>
              <a:gd name="adj" fmla="val 4000"/>
            </a:avLst>
          </a:prstGeom>
          <a:solidFill>
            <a:srgbClr val="EEF5EA"/>
          </a:solidFill>
          <a:ln w="9525">
            <a:solidFill>
              <a:srgbClr val="D5E2C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297680" y="1783080"/>
            <a:ext cx="731520" cy="731520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560" y="196596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566160" y="2651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2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Centers store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3611880" y="30632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COLLECTION_CENTERS, FOOD_ITEMS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5943600" y="2514600"/>
            <a:ext cx="320040" cy="320040"/>
          </a:xfrm>
          <a:prstGeom prst="rightArrow">
            <a:avLst/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355080" y="1554480"/>
            <a:ext cx="2377440" cy="2286000"/>
          </a:xfrm>
          <a:prstGeom prst="roundRect">
            <a:avLst>
              <a:gd name="adj" fmla="val 4000"/>
            </a:avLst>
          </a:prstGeom>
          <a:solidFill>
            <a:srgbClr val="E3EFDD"/>
          </a:solidFill>
          <a:ln w="9525">
            <a:solidFill>
              <a:srgbClr val="D5E2CF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7178040" y="1783080"/>
            <a:ext cx="731520" cy="731520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0920" y="196596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446520" y="2651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2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Distribution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6492240" y="30632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DISTRIBUTIONS, DISTRIBUTION_DETAILS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8823960" y="2514600"/>
            <a:ext cx="320040" cy="320040"/>
          </a:xfrm>
          <a:prstGeom prst="rightArrow">
            <a:avLst/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9235440" y="1554480"/>
            <a:ext cx="2377440" cy="2286000"/>
          </a:xfrm>
          <a:prstGeom prst="roundRect">
            <a:avLst>
              <a:gd name="adj" fmla="val 4000"/>
            </a:avLst>
          </a:prstGeom>
          <a:solidFill>
            <a:srgbClr val="EEF5EA"/>
          </a:solidFill>
          <a:ln w="9525">
            <a:solidFill>
              <a:srgbClr val="D5E2CF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10058400" y="1783080"/>
            <a:ext cx="731520" cy="731520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41280" y="1965960"/>
            <a:ext cx="365760" cy="36576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9326880" y="2651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2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Recipients receive</a:t>
            </a:r>
            <a:endParaRPr lang="en-US" sz="1800" dirty="0"/>
          </a:p>
        </p:txBody>
      </p:sp>
      <p:sp>
        <p:nvSpPr>
          <p:cNvPr id="26" name="Text 20"/>
          <p:cNvSpPr txBox="1"/>
          <p:nvPr/>
        </p:nvSpPr>
        <p:spPr>
          <a:xfrm>
            <a:off x="9372600" y="30632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RECIPIENTS</a:t>
            </a:r>
            <a:endParaRPr lang="en-US" sz="1000" dirty="0"/>
          </a:p>
        </p:txBody>
      </p:sp>
      <p:sp>
        <p:nvSpPr>
          <p:cNvPr id="27" name="Text 21"/>
          <p:cNvSpPr txBox="1"/>
          <p:nvPr/>
        </p:nvSpPr>
        <p:spPr>
          <a:xfrm>
            <a:off x="548640" y="4251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1200" dirty="0"/>
          </a:p>
        </p:txBody>
      </p:sp>
      <p:sp>
        <p:nvSpPr>
          <p:cNvPr id="28" name="Text 22"/>
          <p:cNvSpPr txBox="1"/>
          <p:nvPr/>
        </p:nvSpPr>
        <p:spPr>
          <a:xfrm>
            <a:off x="548640" y="4572000"/>
            <a:ext cx="1109167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donors, food items, centers, volunteers and recipients in a normalised relational schema.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every donation and every distribution with quantities and dates.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operational questions with SQL: totals, rankings, unmatched stock, per-center staffing.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logic through a view and stored procedures.</a:t>
            </a:r>
            <a:endParaRPr lang="en-US" sz="1500" dirty="0"/>
          </a:p>
        </p:txBody>
      </p:sp>
      <p:sp>
        <p:nvSpPr>
          <p:cNvPr id="29" name="Text 2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Waste Redistribution System</a:t>
            </a:r>
            <a:endParaRPr lang="en-US" sz="1000" dirty="0"/>
          </a:p>
        </p:txBody>
      </p:sp>
      <p:sp>
        <p:nvSpPr>
          <p:cNvPr id="30" name="Text 24"/>
          <p:cNvSpPr txBox="1"/>
          <p:nvPr/>
        </p:nvSpPr>
        <p:spPr>
          <a:xfrm>
            <a:off x="10725912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2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Relational schema and ER model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726948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2CF"/>
            </a:solidFill>
            <a:prstDash val="solid"/>
          </a:ln>
        </p:spPr>
      </p:sp>
      <p:pic>
        <p:nvPicPr>
          <p:cNvPr id="5" name="Image 0" descr="/mnt/user-data/uploads/er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17320"/>
            <a:ext cx="7269480" cy="48463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092440" y="1417320"/>
            <a:ext cx="3547872" cy="4846320"/>
          </a:xfrm>
          <a:prstGeom prst="roundRect">
            <a:avLst>
              <a:gd name="adj" fmla="val 2577"/>
            </a:avLst>
          </a:prstGeom>
          <a:solidFill>
            <a:srgbClr val="EEF5EA"/>
          </a:solidFill>
          <a:ln w="9525">
            <a:solidFill>
              <a:srgbClr val="D5E2C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321040" y="1554480"/>
            <a:ext cx="3090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2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 groups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321040" y="2011680"/>
            <a:ext cx="3090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Donors &amp; Donations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8321040" y="2322576"/>
            <a:ext cx="3090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gives food, and how much each donor gives.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8321040" y="3035808"/>
            <a:ext cx="3090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Items &amp; Centers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8321040" y="3346704"/>
            <a:ext cx="3090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Stock, expiry dates and where food is stored.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8321040" y="4059936"/>
            <a:ext cx="3090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Volunteers</a:t>
            </a:r>
            <a:endParaRPr lang="en-US" sz="1350" dirty="0"/>
          </a:p>
        </p:txBody>
      </p:sp>
      <p:sp>
        <p:nvSpPr>
          <p:cNvPr id="13" name="Text 10"/>
          <p:cNvSpPr txBox="1"/>
          <p:nvPr/>
        </p:nvSpPr>
        <p:spPr>
          <a:xfrm>
            <a:off x="8321040" y="4370832"/>
            <a:ext cx="3090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assigned to each collection center.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8321040" y="5084064"/>
            <a:ext cx="3090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Recipients &amp; Distributions</a:t>
            </a:r>
            <a:endParaRPr lang="en-US" sz="1350" dirty="0"/>
          </a:p>
        </p:txBody>
      </p:sp>
      <p:sp>
        <p:nvSpPr>
          <p:cNvPr id="15" name="Text 12"/>
          <p:cNvSpPr txBox="1"/>
          <p:nvPr/>
        </p:nvSpPr>
        <p:spPr>
          <a:xfrm>
            <a:off x="8321040" y="5394960"/>
            <a:ext cx="3090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receives food, and what is delivered.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Waste Redistribution System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10725912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2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and SQL concepts used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5E2C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737360"/>
            <a:ext cx="548640" cy="548640"/>
          </a:xfrm>
          <a:prstGeom prst="ellipse">
            <a:avLst/>
          </a:prstGeom>
          <a:solidFill>
            <a:srgbClr val="EEF5EA"/>
          </a:solidFill>
          <a:ln w="12700">
            <a:solidFill>
              <a:srgbClr val="D5E2CF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874520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24231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MySQL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807208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database engine. Database food_waste_redistribution with 8 tables.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43400" y="150876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5E2C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0" y="1737360"/>
            <a:ext cx="548640" cy="548640"/>
          </a:xfrm>
          <a:prstGeom prst="ellipse">
            <a:avLst/>
          </a:prstGeom>
          <a:solidFill>
            <a:srgbClr val="EEF5EA"/>
          </a:solidFill>
          <a:ln w="12700">
            <a:solidFill>
              <a:srgbClr val="D5E2CF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187452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72000" y="24231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MySQL command-line client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4572000" y="2807208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 run every script and query, as shown in the mysql&gt; session output.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138160" y="150876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5E2C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66760" y="1737360"/>
            <a:ext cx="548640" cy="548640"/>
          </a:xfrm>
          <a:prstGeom prst="ellipse">
            <a:avLst/>
          </a:prstGeom>
          <a:solidFill>
            <a:srgbClr val="EEF5EA"/>
          </a:solidFill>
          <a:ln w="12700">
            <a:solidFill>
              <a:srgbClr val="D5E2CF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3920" y="187452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66760" y="24231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SQL: DDL, DML, DQL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8366760" y="2807208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/ DROP for structure, INSERT for data, SELECT for analysis.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548640" y="393192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5E2C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77240" y="4160520"/>
            <a:ext cx="548640" cy="548640"/>
          </a:xfrm>
          <a:prstGeom prst="ellipse">
            <a:avLst/>
          </a:prstGeom>
          <a:solidFill>
            <a:srgbClr val="EEF5EA"/>
          </a:solidFill>
          <a:ln w="12700">
            <a:solidFill>
              <a:srgbClr val="D5E2CF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4297680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77240" y="48463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Constraints</a:t>
            </a:r>
            <a:endParaRPr lang="en-US" sz="1700" dirty="0"/>
          </a:p>
        </p:txBody>
      </p:sp>
      <p:sp>
        <p:nvSpPr>
          <p:cNvPr id="23" name="Text 17"/>
          <p:cNvSpPr txBox="1"/>
          <p:nvPr/>
        </p:nvSpPr>
        <p:spPr>
          <a:xfrm>
            <a:off x="777240" y="5230368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KEY, FOREIGN KEY, NOT NULL and AUTO_INCREMENT keep data consistent.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4343400" y="393192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5E2C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72000" y="4160520"/>
            <a:ext cx="548640" cy="548640"/>
          </a:xfrm>
          <a:prstGeom prst="ellipse">
            <a:avLst/>
          </a:prstGeom>
          <a:solidFill>
            <a:srgbClr val="EEF5EA"/>
          </a:solidFill>
          <a:ln w="12700">
            <a:solidFill>
              <a:srgbClr val="D5E2CF"/>
            </a:solidFill>
            <a:prstDash val="solid"/>
          </a:ln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09160" y="4297680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572000" y="48463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 modelling</a:t>
            </a:r>
            <a:endParaRPr lang="en-US" sz="1700" dirty="0"/>
          </a:p>
        </p:txBody>
      </p:sp>
      <p:sp>
        <p:nvSpPr>
          <p:cNvPr id="28" name="Text 21"/>
          <p:cNvSpPr txBox="1"/>
          <p:nvPr/>
        </p:nvSpPr>
        <p:spPr>
          <a:xfrm>
            <a:off x="4572000" y="5230368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Entity-relationship diagram in crow's foot notation guides the schema.</a:t>
            </a:r>
            <a:endParaRPr lang="en-US" sz="1300" dirty="0"/>
          </a:p>
        </p:txBody>
      </p:sp>
      <p:sp>
        <p:nvSpPr>
          <p:cNvPr id="29" name="Shape 22"/>
          <p:cNvSpPr/>
          <p:nvPr/>
        </p:nvSpPr>
        <p:spPr>
          <a:xfrm>
            <a:off x="8138160" y="393192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5E2C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66760" y="4160520"/>
            <a:ext cx="548640" cy="548640"/>
          </a:xfrm>
          <a:prstGeom prst="ellipse">
            <a:avLst/>
          </a:prstGeom>
          <a:solidFill>
            <a:srgbClr val="EEF5EA"/>
          </a:solidFill>
          <a:ln w="12700">
            <a:solidFill>
              <a:srgbClr val="D5E2CF"/>
            </a:solidFill>
            <a:prstDash val="solid"/>
          </a:ln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03920" y="4297680"/>
            <a:ext cx="274320" cy="27432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366760" y="48463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Advanced objects</a:t>
            </a:r>
            <a:endParaRPr lang="en-US" sz="1700" dirty="0"/>
          </a:p>
        </p:txBody>
      </p:sp>
      <p:sp>
        <p:nvSpPr>
          <p:cNvPr id="33" name="Text 25"/>
          <p:cNvSpPr txBox="1"/>
          <p:nvPr/>
        </p:nvSpPr>
        <p:spPr>
          <a:xfrm>
            <a:off x="8366760" y="5230368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VIEW for reporting and stored PROCEDURES with an input parameter.</a:t>
            </a:r>
            <a:endParaRPr lang="en-US" sz="1300" dirty="0"/>
          </a:p>
        </p:txBody>
      </p:sp>
      <p:sp>
        <p:nvSpPr>
          <p:cNvPr id="34" name="Text 26"/>
          <p:cNvSpPr txBox="1"/>
          <p:nvPr/>
        </p:nvSpPr>
        <p:spPr>
          <a:xfrm>
            <a:off x="548640" y="614476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techniques covered: SELECT, WHERE, aggregate functions, INNER and LEFT JOIN, GROUP BY, HAVING, ORDER BY / LIMIT, subqueries, NOT IN.</a:t>
            </a:r>
            <a:endParaRPr lang="en-US" sz="1200" dirty="0"/>
          </a:p>
        </p:txBody>
      </p:sp>
      <p:sp>
        <p:nvSpPr>
          <p:cNvPr id="35" name="Text 2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Waste Redistribution System</a:t>
            </a:r>
            <a:endParaRPr lang="en-US" sz="1000" dirty="0"/>
          </a:p>
        </p:txBody>
      </p:sp>
      <p:sp>
        <p:nvSpPr>
          <p:cNvPr id="36" name="Text 28"/>
          <p:cNvSpPr txBox="1"/>
          <p:nvPr/>
        </p:nvSpPr>
        <p:spPr>
          <a:xfrm>
            <a:off x="10725912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FD67294-E474-050A-755F-0920E40E5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811" y="317241"/>
            <a:ext cx="10424616" cy="5470595"/>
          </a:xfrm>
          <a:prstGeom prst="rect">
            <a:avLst/>
          </a:prstGeom>
        </p:spPr>
      </p:pic>
      <p:sp>
        <p:nvSpPr>
          <p:cNvPr id="9" name="Text 41">
            <a:extLst>
              <a:ext uri="{FF2B5EF4-FFF2-40B4-BE49-F238E27FC236}">
                <a16:creationId xmlns:a16="http://schemas.microsoft.com/office/drawing/2014/main" id="{75EC75AE-8901-CA13-BB27-AF38CFA93DD7}"/>
              </a:ext>
            </a:extLst>
          </p:cNvPr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Waste Redistribution System</a:t>
            </a:r>
            <a:endParaRPr lang="en-US" sz="1000" dirty="0"/>
          </a:p>
        </p:txBody>
      </p:sp>
      <p:sp>
        <p:nvSpPr>
          <p:cNvPr id="15" name="Text 41">
            <a:extLst>
              <a:ext uri="{FF2B5EF4-FFF2-40B4-BE49-F238E27FC236}">
                <a16:creationId xmlns:a16="http://schemas.microsoft.com/office/drawing/2014/main" id="{579EDDAC-9C60-BD32-8B83-D78905D0F135}"/>
              </a:ext>
            </a:extLst>
          </p:cNvPr>
          <p:cNvSpPr txBox="1"/>
          <p:nvPr/>
        </p:nvSpPr>
        <p:spPr>
          <a:xfrm>
            <a:off x="9586699" y="6441699"/>
            <a:ext cx="1938551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/>
              <a:t>                                                                6</a:t>
            </a:r>
          </a:p>
        </p:txBody>
      </p:sp>
    </p:spTree>
    <p:extLst>
      <p:ext uri="{BB962C8B-B14F-4D97-AF65-F5344CB8AC3E}">
        <p14:creationId xmlns:p14="http://schemas.microsoft.com/office/powerpoint/2010/main" val="21951779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77F1574-B157-BE54-4B99-696AF18392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0448" y="336620"/>
            <a:ext cx="10966461" cy="5977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50523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 PERFORMANCE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2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donors supply almost half of all food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7223760" cy="713232"/>
          </a:xfrm>
          <a:prstGeom prst="roundRect">
            <a:avLst>
              <a:gd name="adj" fmla="val 10256"/>
            </a:avLst>
          </a:prstGeom>
          <a:solidFill>
            <a:srgbClr val="E3EFDD"/>
          </a:solidFill>
          <a:ln w="9525">
            <a:solidFill>
              <a:srgbClr val="D5E2C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361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Bites Restaurant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8288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611880" y="1709928"/>
            <a:ext cx="2560320" cy="146304"/>
          </a:xfrm>
          <a:prstGeom prst="rect">
            <a:avLst/>
          </a:prstGeom>
          <a:solidFill>
            <a:srgbClr val="D5E2CF"/>
          </a:solidFill>
          <a:ln w="12700">
            <a:solidFill>
              <a:srgbClr val="D5E2C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11880" y="1709928"/>
            <a:ext cx="2560320" cy="146304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63640" y="153619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2E7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300 Units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263640" y="18288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24.0% share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2304288"/>
            <a:ext cx="7223760" cy="713232"/>
          </a:xfrm>
          <a:prstGeom prst="roundRect">
            <a:avLst>
              <a:gd name="adj" fmla="val 10256"/>
            </a:avLst>
          </a:prstGeom>
          <a:solidFill>
            <a:srgbClr val="EEF5EA"/>
          </a:solidFill>
          <a:ln w="9525">
            <a:solidFill>
              <a:srgbClr val="D5E2C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2377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Annapurna Catering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267004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Catering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11880" y="2551176"/>
            <a:ext cx="2560320" cy="146304"/>
          </a:xfrm>
          <a:prstGeom prst="rect">
            <a:avLst/>
          </a:prstGeom>
          <a:solidFill>
            <a:srgbClr val="D5E2CF"/>
          </a:solidFill>
          <a:ln w="12700">
            <a:solidFill>
              <a:srgbClr val="D5E2C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11880" y="2551176"/>
            <a:ext cx="2560320" cy="146304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63640" y="23774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2E7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300 Units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267004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24.0% share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3145536"/>
            <a:ext cx="7223760" cy="713232"/>
          </a:xfrm>
          <a:prstGeom prst="roundRect">
            <a:avLst>
              <a:gd name="adj" fmla="val 10256"/>
            </a:avLst>
          </a:prstGeom>
          <a:solidFill>
            <a:srgbClr val="EEF5EA"/>
          </a:solidFill>
          <a:ln w="9525">
            <a:solidFill>
              <a:srgbClr val="D5E2C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32186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Leaf Hotel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" y="351129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11880" y="3392424"/>
            <a:ext cx="2560320" cy="146304"/>
          </a:xfrm>
          <a:prstGeom prst="rect">
            <a:avLst/>
          </a:prstGeom>
          <a:solidFill>
            <a:srgbClr val="D5E2CF"/>
          </a:solidFill>
          <a:ln w="12700">
            <a:solidFill>
              <a:srgbClr val="D5E2C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11880" y="3392424"/>
            <a:ext cx="2133600" cy="146304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263640" y="321868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2E7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250 Units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263640" y="351129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20.0% share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3986784"/>
            <a:ext cx="7223760" cy="713232"/>
          </a:xfrm>
          <a:prstGeom prst="roundRect">
            <a:avLst>
              <a:gd name="adj" fmla="val 10256"/>
            </a:avLst>
          </a:prstGeom>
          <a:solidFill>
            <a:srgbClr val="EEF5EA"/>
          </a:solidFill>
          <a:ln w="9525">
            <a:solidFill>
              <a:srgbClr val="D5E2C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77240" y="405993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Supermarket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777240" y="435254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Supermarket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611880" y="4233672"/>
            <a:ext cx="2560320" cy="146304"/>
          </a:xfrm>
          <a:prstGeom prst="rect">
            <a:avLst/>
          </a:prstGeom>
          <a:solidFill>
            <a:srgbClr val="D5E2CF"/>
          </a:solidFill>
          <a:ln w="12700">
            <a:solidFill>
              <a:srgbClr val="D5E2C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11880" y="4233672"/>
            <a:ext cx="1706880" cy="146304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263640" y="405993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2E7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 Units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6263640" y="435254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16.0% share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48640" y="4828032"/>
            <a:ext cx="7223760" cy="713232"/>
          </a:xfrm>
          <a:prstGeom prst="roundRect">
            <a:avLst>
              <a:gd name="adj" fmla="val 10256"/>
            </a:avLst>
          </a:prstGeom>
          <a:solidFill>
            <a:srgbClr val="EEF5EA"/>
          </a:solidFill>
          <a:ln w="9525">
            <a:solidFill>
              <a:srgbClr val="D5E2C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77240" y="490118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Care NGO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777240" y="51937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611880" y="5074920"/>
            <a:ext cx="2560320" cy="146304"/>
          </a:xfrm>
          <a:prstGeom prst="rect">
            <a:avLst/>
          </a:prstGeom>
          <a:solidFill>
            <a:srgbClr val="D5E2CF"/>
          </a:solidFill>
          <a:ln w="12700">
            <a:solidFill>
              <a:srgbClr val="D5E2C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611880" y="5074920"/>
            <a:ext cx="1706880" cy="146304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263640" y="4901184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2E7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 Units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6263640" y="519379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16.0% share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8092440" y="1463040"/>
            <a:ext cx="3547872" cy="4078224"/>
          </a:xfrm>
          <a:prstGeom prst="roundRect">
            <a:avLst>
              <a:gd name="adj" fmla="val 2577"/>
            </a:avLst>
          </a:prstGeom>
          <a:solidFill>
            <a:srgbClr val="12372A"/>
          </a:solidFill>
          <a:ln w="12700">
            <a:solidFill>
              <a:srgbClr val="12372A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366760" y="1737360"/>
            <a:ext cx="29992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E88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48%</a:t>
            </a:r>
            <a:endParaRPr lang="en-US" sz="4400" dirty="0"/>
          </a:p>
        </p:txBody>
      </p:sp>
      <p:sp>
        <p:nvSpPr>
          <p:cNvPr id="41" name="Text 39"/>
          <p:cNvSpPr txBox="1"/>
          <p:nvPr/>
        </p:nvSpPr>
        <p:spPr>
          <a:xfrm>
            <a:off x="8366760" y="2606040"/>
            <a:ext cx="2999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2 donors</a:t>
            </a:r>
            <a:endParaRPr lang="en-US" sz="1500" dirty="0"/>
          </a:p>
        </p:txBody>
      </p:sp>
      <p:sp>
        <p:nvSpPr>
          <p:cNvPr id="42" name="Text 40"/>
          <p:cNvSpPr txBox="1"/>
          <p:nvPr/>
        </p:nvSpPr>
        <p:spPr>
          <a:xfrm>
            <a:off x="8366760" y="3154680"/>
            <a:ext cx="2999232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AD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Bites Restaurant and Annapurna Catering together gave 600 of 1,250 units. The average donation is 156.25 units across 8 donations.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Waste Redistribution System</a:t>
            </a:r>
            <a:endParaRPr lang="en-US" sz="1000" dirty="0"/>
          </a:p>
        </p:txBody>
      </p:sp>
      <p:sp>
        <p:nvSpPr>
          <p:cNvPr id="46" name="Text 41">
            <a:extLst>
              <a:ext uri="{FF2B5EF4-FFF2-40B4-BE49-F238E27FC236}">
                <a16:creationId xmlns:a16="http://schemas.microsoft.com/office/drawing/2014/main" id="{9457E2EA-A6F4-82CB-4F63-1F8D9220D949}"/>
              </a:ext>
            </a:extLst>
          </p:cNvPr>
          <p:cNvSpPr txBox="1"/>
          <p:nvPr/>
        </p:nvSpPr>
        <p:spPr>
          <a:xfrm>
            <a:off x="8901404" y="6446520"/>
            <a:ext cx="2341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                                                          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ITEM PERFORMANCE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2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Rice is the most donated item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011680" cy="2743200"/>
          </a:xfrm>
          <a:prstGeom prst="roundRect">
            <a:avLst>
              <a:gd name="adj" fmla="val 4545"/>
            </a:avLst>
          </a:prstGeom>
          <a:solidFill>
            <a:srgbClr val="E3EFDD"/>
          </a:solidFill>
          <a:ln w="19050">
            <a:solidFill>
              <a:srgbClr val="2E7D4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80160" y="1874520"/>
            <a:ext cx="548640" cy="548640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80160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606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2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Rice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971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Grains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3375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E7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886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donated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800350" y="1645920"/>
            <a:ext cx="2011680" cy="2743200"/>
          </a:xfrm>
          <a:prstGeom prst="roundRect">
            <a:avLst>
              <a:gd name="adj" fmla="val 4545"/>
            </a:avLst>
          </a:prstGeom>
          <a:solidFill>
            <a:srgbClr val="EEF5EA"/>
          </a:solidFill>
          <a:ln w="9525">
            <a:solidFill>
              <a:srgbClr val="D5E2C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31870" y="1874520"/>
            <a:ext cx="548640" cy="548640"/>
          </a:xfrm>
          <a:prstGeom prst="ellipse">
            <a:avLst/>
          </a:prstGeom>
          <a:solidFill>
            <a:srgbClr val="5B6B62"/>
          </a:solidFill>
          <a:ln w="12700">
            <a:solidFill>
              <a:srgbClr val="5B6B6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531870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2891790" y="2606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2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Dal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2891790" y="2971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Pulses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2891790" y="33375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E7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</a:t>
            </a:r>
            <a:endParaRPr lang="en-US" sz="3200" dirty="0"/>
          </a:p>
        </p:txBody>
      </p:sp>
      <p:sp>
        <p:nvSpPr>
          <p:cNvPr id="17" name="Text 15"/>
          <p:cNvSpPr txBox="1"/>
          <p:nvPr/>
        </p:nvSpPr>
        <p:spPr>
          <a:xfrm>
            <a:off x="2891790" y="3886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donated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52060" y="1645920"/>
            <a:ext cx="2011680" cy="2743200"/>
          </a:xfrm>
          <a:prstGeom prst="roundRect">
            <a:avLst>
              <a:gd name="adj" fmla="val 4545"/>
            </a:avLst>
          </a:prstGeom>
          <a:solidFill>
            <a:srgbClr val="EEF5EA"/>
          </a:solidFill>
          <a:ln w="9525">
            <a:solidFill>
              <a:srgbClr val="D5E2C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783580" y="1874520"/>
            <a:ext cx="548640" cy="548640"/>
          </a:xfrm>
          <a:prstGeom prst="ellipse">
            <a:avLst/>
          </a:prstGeom>
          <a:solidFill>
            <a:srgbClr val="5B6B62"/>
          </a:solidFill>
          <a:ln w="12700">
            <a:solidFill>
              <a:srgbClr val="5B6B6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783580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5143500" y="2606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2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Wheat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5143500" y="2971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Grains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143500" y="33375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E7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150</a:t>
            </a:r>
            <a:endParaRPr lang="en-US" sz="3200" dirty="0"/>
          </a:p>
        </p:txBody>
      </p:sp>
      <p:sp>
        <p:nvSpPr>
          <p:cNvPr id="24" name="Text 22"/>
          <p:cNvSpPr txBox="1"/>
          <p:nvPr/>
        </p:nvSpPr>
        <p:spPr>
          <a:xfrm>
            <a:off x="5143500" y="3886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donated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303770" y="1645920"/>
            <a:ext cx="2011680" cy="2743200"/>
          </a:xfrm>
          <a:prstGeom prst="roundRect">
            <a:avLst>
              <a:gd name="adj" fmla="val 4545"/>
            </a:avLst>
          </a:prstGeom>
          <a:solidFill>
            <a:srgbClr val="EEF5EA"/>
          </a:solidFill>
          <a:ln w="9525">
            <a:solidFill>
              <a:srgbClr val="D5E2C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35290" y="1874520"/>
            <a:ext cx="548640" cy="548640"/>
          </a:xfrm>
          <a:prstGeom prst="ellipse">
            <a:avLst/>
          </a:prstGeom>
          <a:solidFill>
            <a:srgbClr val="5B6B62"/>
          </a:solidFill>
          <a:ln w="12700">
            <a:solidFill>
              <a:srgbClr val="5B6B6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035290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7395210" y="2606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2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Biscuits</a:t>
            </a:r>
            <a:endParaRPr lang="en-US" sz="2000" dirty="0"/>
          </a:p>
        </p:txBody>
      </p:sp>
      <p:sp>
        <p:nvSpPr>
          <p:cNvPr id="29" name="Text 27"/>
          <p:cNvSpPr txBox="1"/>
          <p:nvPr/>
        </p:nvSpPr>
        <p:spPr>
          <a:xfrm>
            <a:off x="7395210" y="2971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Packaged Food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395210" y="33375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E7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120</a:t>
            </a:r>
            <a:endParaRPr lang="en-US" sz="3200" dirty="0"/>
          </a:p>
        </p:txBody>
      </p:sp>
      <p:sp>
        <p:nvSpPr>
          <p:cNvPr id="31" name="Text 29"/>
          <p:cNvSpPr txBox="1"/>
          <p:nvPr/>
        </p:nvSpPr>
        <p:spPr>
          <a:xfrm>
            <a:off x="7395210" y="3886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donated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9555480" y="1645920"/>
            <a:ext cx="2011680" cy="2743200"/>
          </a:xfrm>
          <a:prstGeom prst="roundRect">
            <a:avLst>
              <a:gd name="adj" fmla="val 4545"/>
            </a:avLst>
          </a:prstGeom>
          <a:solidFill>
            <a:srgbClr val="EEF5EA"/>
          </a:solidFill>
          <a:ln w="9525">
            <a:solidFill>
              <a:srgbClr val="D5E2C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287000" y="1874520"/>
            <a:ext cx="548640" cy="548640"/>
          </a:xfrm>
          <a:prstGeom prst="ellipse">
            <a:avLst/>
          </a:prstGeom>
          <a:solidFill>
            <a:srgbClr val="5B6B62"/>
          </a:solidFill>
          <a:ln w="12700">
            <a:solidFill>
              <a:srgbClr val="5B6B6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0287000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35" name="Text 33"/>
          <p:cNvSpPr txBox="1"/>
          <p:nvPr/>
        </p:nvSpPr>
        <p:spPr>
          <a:xfrm>
            <a:off x="9646920" y="2606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2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Fruits</a:t>
            </a:r>
            <a:endParaRPr lang="en-US" sz="2000" dirty="0"/>
          </a:p>
        </p:txBody>
      </p:sp>
      <p:sp>
        <p:nvSpPr>
          <p:cNvPr id="36" name="Text 34"/>
          <p:cNvSpPr txBox="1"/>
          <p:nvPr/>
        </p:nvSpPr>
        <p:spPr>
          <a:xfrm>
            <a:off x="9646920" y="2971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Food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9646920" y="33375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E7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</a:t>
            </a:r>
            <a:endParaRPr lang="en-US" sz="3200" dirty="0"/>
          </a:p>
        </p:txBody>
      </p:sp>
      <p:sp>
        <p:nvSpPr>
          <p:cNvPr id="38" name="Text 36"/>
          <p:cNvSpPr txBox="1"/>
          <p:nvPr/>
        </p:nvSpPr>
        <p:spPr>
          <a:xfrm>
            <a:off x="9646920" y="3886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donated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48640" y="4754880"/>
            <a:ext cx="11091672" cy="1280160"/>
          </a:xfrm>
          <a:prstGeom prst="roundRect">
            <a:avLst>
              <a:gd name="adj" fmla="val 7143"/>
            </a:avLst>
          </a:prstGeom>
          <a:solidFill>
            <a:srgbClr val="12372A"/>
          </a:solidFill>
          <a:ln w="12700">
            <a:solidFill>
              <a:srgbClr val="12372A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22960" y="4800600"/>
            <a:ext cx="105430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Rice alone is 40% of all donations (500 of 1,250 units), received from two donors. Vegetable Curry also had 100 units, tied with Fruits. Bread (80 units) was the least donated item.</a:t>
            </a:r>
            <a:endParaRPr lang="en-US" sz="1600" dirty="0"/>
          </a:p>
        </p:txBody>
      </p:sp>
      <p:sp>
        <p:nvSpPr>
          <p:cNvPr id="41" name="Text 3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Waste Redistribution System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10725912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ANALYSIS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2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Grains make up almost half of the stock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4572000" cy="4663440"/>
          </a:xfrm>
          <a:prstGeom prst="roundRect">
            <a:avLst>
              <a:gd name="adj" fmla="val 2000"/>
            </a:avLst>
          </a:prstGeom>
          <a:solidFill>
            <a:srgbClr val="E3EFDD"/>
          </a:solidFill>
          <a:ln w="19050">
            <a:solidFill>
              <a:srgbClr val="2E7D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7373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 CATEGORY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10312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2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Grains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83464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0" b="1" dirty="0">
                <a:solidFill>
                  <a:srgbClr val="2E7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800</a:t>
            </a:r>
            <a:endParaRPr lang="en-US" sz="66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8862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in stock, 44.4% of 1,800 total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448056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Rice (500) and Wheat (300) are both stored at the Central Food Center.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40680" y="1463040"/>
            <a:ext cx="6199632" cy="658368"/>
          </a:xfrm>
          <a:prstGeom prst="roundRect">
            <a:avLst>
              <a:gd name="adj" fmla="val 11111"/>
            </a:avLst>
          </a:prstGeom>
          <a:solidFill>
            <a:srgbClr val="EEF5EA"/>
          </a:solidFill>
          <a:ln w="9525">
            <a:solidFill>
              <a:srgbClr val="D5E2C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669280" y="15270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0" y="181051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046720" y="1719072"/>
            <a:ext cx="1828800" cy="146304"/>
          </a:xfrm>
          <a:prstGeom prst="rect">
            <a:avLst/>
          </a:prstGeom>
          <a:solidFill>
            <a:srgbClr val="D5E2CF"/>
          </a:solidFill>
          <a:ln w="12700">
            <a:solidFill>
              <a:srgbClr val="D5E2C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46720" y="1719072"/>
            <a:ext cx="571500" cy="146304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012680" y="15270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2E7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250 units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0012680" y="181051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13.9% share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40680" y="2240280"/>
            <a:ext cx="6199632" cy="658368"/>
          </a:xfrm>
          <a:prstGeom prst="roundRect">
            <a:avLst>
              <a:gd name="adj" fmla="val 11111"/>
            </a:avLst>
          </a:prstGeom>
          <a:solidFill>
            <a:srgbClr val="EEF5EA"/>
          </a:solidFill>
          <a:ln w="9525">
            <a:solidFill>
              <a:srgbClr val="D5E2C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669280" y="23042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Food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669280" y="258775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Fruits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046720" y="2496312"/>
            <a:ext cx="1828800" cy="146304"/>
          </a:xfrm>
          <a:prstGeom prst="rect">
            <a:avLst/>
          </a:prstGeom>
          <a:solidFill>
            <a:srgbClr val="D5E2CF"/>
          </a:solidFill>
          <a:ln w="12700">
            <a:solidFill>
              <a:srgbClr val="D5E2C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46720" y="2496312"/>
            <a:ext cx="457200" cy="146304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012680" y="23042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2E7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 units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0012680" y="258775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11.1% share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40680" y="3017520"/>
            <a:ext cx="6199632" cy="658368"/>
          </a:xfrm>
          <a:prstGeom prst="roundRect">
            <a:avLst>
              <a:gd name="adj" fmla="val 11111"/>
            </a:avLst>
          </a:prstGeom>
          <a:solidFill>
            <a:srgbClr val="EEF5EA"/>
          </a:solidFill>
          <a:ln w="9525">
            <a:solidFill>
              <a:srgbClr val="D5E2C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669280" y="30815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Packaged Food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5669280" y="336499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Biscuits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046720" y="3273552"/>
            <a:ext cx="1828800" cy="146304"/>
          </a:xfrm>
          <a:prstGeom prst="rect">
            <a:avLst/>
          </a:prstGeom>
          <a:solidFill>
            <a:srgbClr val="D5E2CF"/>
          </a:solidFill>
          <a:ln w="12700">
            <a:solidFill>
              <a:srgbClr val="D5E2C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46720" y="3273552"/>
            <a:ext cx="411480" cy="146304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0012680" y="30815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2E7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180 units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10012680" y="336499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10.0% share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440680" y="3794760"/>
            <a:ext cx="6199632" cy="658368"/>
          </a:xfrm>
          <a:prstGeom prst="roundRect">
            <a:avLst>
              <a:gd name="adj" fmla="val 11111"/>
            </a:avLst>
          </a:prstGeom>
          <a:solidFill>
            <a:srgbClr val="EEF5EA"/>
          </a:solidFill>
          <a:ln w="9525">
            <a:solidFill>
              <a:srgbClr val="D5E2C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669280" y="38587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Cooked Food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5669280" y="414223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Vegetable Curry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046720" y="4050792"/>
            <a:ext cx="1828800" cy="146304"/>
          </a:xfrm>
          <a:prstGeom prst="rect">
            <a:avLst/>
          </a:prstGeom>
          <a:solidFill>
            <a:srgbClr val="D5E2CF"/>
          </a:solidFill>
          <a:ln w="12700">
            <a:solidFill>
              <a:srgbClr val="D5E2C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046720" y="4050792"/>
            <a:ext cx="342900" cy="146304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0012680" y="3858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2E7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150 units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10012680" y="414223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8.3% share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40680" y="4572000"/>
            <a:ext cx="6199632" cy="658368"/>
          </a:xfrm>
          <a:prstGeom prst="roundRect">
            <a:avLst>
              <a:gd name="adj" fmla="val 11111"/>
            </a:avLst>
          </a:prstGeom>
          <a:solidFill>
            <a:srgbClr val="EEF5EA"/>
          </a:solidFill>
          <a:ln w="9525">
            <a:solidFill>
              <a:srgbClr val="D5E2C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5669280" y="46360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Dairy</a:t>
            </a:r>
            <a:endParaRPr lang="en-US" sz="1500" dirty="0"/>
          </a:p>
        </p:txBody>
      </p:sp>
      <p:sp>
        <p:nvSpPr>
          <p:cNvPr id="40" name="Text 38"/>
          <p:cNvSpPr txBox="1"/>
          <p:nvPr/>
        </p:nvSpPr>
        <p:spPr>
          <a:xfrm>
            <a:off x="5669280" y="491947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Milk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8046720" y="4828032"/>
            <a:ext cx="1828800" cy="146304"/>
          </a:xfrm>
          <a:prstGeom prst="rect">
            <a:avLst/>
          </a:prstGeom>
          <a:solidFill>
            <a:srgbClr val="D5E2CF"/>
          </a:solidFill>
          <a:ln w="12700">
            <a:solidFill>
              <a:srgbClr val="D5E2C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046720" y="4828032"/>
            <a:ext cx="274320" cy="146304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10012680" y="46360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2E7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120 units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10012680" y="491947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6.7% share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5440680" y="5349240"/>
            <a:ext cx="6199632" cy="658368"/>
          </a:xfrm>
          <a:prstGeom prst="roundRect">
            <a:avLst>
              <a:gd name="adj" fmla="val 11111"/>
            </a:avLst>
          </a:prstGeom>
          <a:solidFill>
            <a:srgbClr val="EEF5EA"/>
          </a:solidFill>
          <a:ln w="9525">
            <a:solidFill>
              <a:srgbClr val="D5E2CF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5669280" y="54132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Bakery</a:t>
            </a:r>
            <a:endParaRPr lang="en-US" sz="1500" dirty="0"/>
          </a:p>
        </p:txBody>
      </p:sp>
      <p:sp>
        <p:nvSpPr>
          <p:cNvPr id="47" name="Text 45"/>
          <p:cNvSpPr txBox="1"/>
          <p:nvPr/>
        </p:nvSpPr>
        <p:spPr>
          <a:xfrm>
            <a:off x="5669280" y="569671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8046720" y="5605272"/>
            <a:ext cx="1828800" cy="146304"/>
          </a:xfrm>
          <a:prstGeom prst="rect">
            <a:avLst/>
          </a:prstGeom>
          <a:solidFill>
            <a:srgbClr val="D5E2CF"/>
          </a:solidFill>
          <a:ln w="12700">
            <a:solidFill>
              <a:srgbClr val="D5E2C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046720" y="5605272"/>
            <a:ext cx="228600" cy="146304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10012680" y="54132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2E7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 units</a:t>
            </a:r>
            <a:endParaRPr lang="en-US" sz="1400" dirty="0"/>
          </a:p>
        </p:txBody>
      </p:sp>
      <p:sp>
        <p:nvSpPr>
          <p:cNvPr id="51" name="Text 49"/>
          <p:cNvSpPr txBox="1"/>
          <p:nvPr/>
        </p:nvSpPr>
        <p:spPr>
          <a:xfrm>
            <a:off x="10012680" y="569671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5.6% share</a:t>
            </a:r>
            <a:endParaRPr lang="en-US" sz="1050" dirty="0"/>
          </a:p>
        </p:txBody>
      </p:sp>
      <p:sp>
        <p:nvSpPr>
          <p:cNvPr id="52" name="Text 5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Waste Redistribution System</a:t>
            </a:r>
            <a:endParaRPr lang="en-US" sz="1000" dirty="0"/>
          </a:p>
        </p:txBody>
      </p:sp>
      <p:sp>
        <p:nvSpPr>
          <p:cNvPr id="53" name="Text 51"/>
          <p:cNvSpPr txBox="1"/>
          <p:nvPr/>
        </p:nvSpPr>
        <p:spPr>
          <a:xfrm>
            <a:off x="10725912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CENTER ANALYSIS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2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Central Food Center is 80% full while others have room</a:t>
            </a:r>
            <a:endParaRPr lang="en-US" sz="3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463040"/>
          <a:ext cx="6583680" cy="4754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406640" y="1463040"/>
            <a:ext cx="4233672" cy="914400"/>
          </a:xfrm>
          <a:prstGeom prst="roundRect">
            <a:avLst>
              <a:gd name="adj" fmla="val 8000"/>
            </a:avLst>
          </a:prstGeom>
          <a:solidFill>
            <a:srgbClr val="E3EFDD"/>
          </a:solidFill>
          <a:ln w="9525">
            <a:solidFill>
              <a:srgbClr val="D5E2C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635240" y="153619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Central Food Center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7635240" y="190195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8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80.0% used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9601200" y="190195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volunteers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406640" y="2514600"/>
            <a:ext cx="4233672" cy="914400"/>
          </a:xfrm>
          <a:prstGeom prst="roundRect">
            <a:avLst>
              <a:gd name="adj" fmla="val 8000"/>
            </a:avLst>
          </a:prstGeom>
          <a:solidFill>
            <a:srgbClr val="EEF5EA"/>
          </a:solidFill>
          <a:ln w="9525">
            <a:solidFill>
              <a:srgbClr val="D5E2C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635240" y="258775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South Food Center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7635240" y="295351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E7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61.4% used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9601200" y="295351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volunteers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7406640" y="3566160"/>
            <a:ext cx="4233672" cy="914400"/>
          </a:xfrm>
          <a:prstGeom prst="roundRect">
            <a:avLst>
              <a:gd name="adj" fmla="val 8000"/>
            </a:avLst>
          </a:prstGeom>
          <a:solidFill>
            <a:srgbClr val="EEF5EA"/>
          </a:solidFill>
          <a:ln w="9525">
            <a:solidFill>
              <a:srgbClr val="D5E2C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635240" y="363931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North Distribution Center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7635240" y="400507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E7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43.8% used</a:t>
            </a:r>
            <a:endParaRPr lang="en-US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9601200" y="400507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volunteers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7406640" y="4617720"/>
            <a:ext cx="4233672" cy="914400"/>
          </a:xfrm>
          <a:prstGeom prst="roundRect">
            <a:avLst>
              <a:gd name="adj" fmla="val 8000"/>
            </a:avLst>
          </a:prstGeom>
          <a:solidFill>
            <a:srgbClr val="EEF5EA"/>
          </a:solidFill>
          <a:ln w="9525">
            <a:solidFill>
              <a:srgbClr val="D5E2C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635240" y="469087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Community Food Hub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7635240" y="505663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E7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36.7% used</a:t>
            </a:r>
            <a:endParaRPr lang="en-US" sz="2000" dirty="0"/>
          </a:p>
        </p:txBody>
      </p:sp>
      <p:sp>
        <p:nvSpPr>
          <p:cNvPr id="20" name="Text 17"/>
          <p:cNvSpPr txBox="1"/>
          <p:nvPr/>
        </p:nvSpPr>
        <p:spPr>
          <a:xfrm>
            <a:off x="9601200" y="505663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volunteer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7406640" y="5760720"/>
            <a:ext cx="4233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Food Hub has the lowest staffing and the lowest use of its capacity.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Waste Redistribution System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0725912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RECIPIENT ANALYSIS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2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Children's homes received the most food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7223760" cy="713232"/>
          </a:xfrm>
          <a:prstGeom prst="roundRect">
            <a:avLst>
              <a:gd name="adj" fmla="val 10256"/>
            </a:avLst>
          </a:prstGeom>
          <a:solidFill>
            <a:srgbClr val="E3EFDD"/>
          </a:solidFill>
          <a:ln w="9525">
            <a:solidFill>
              <a:srgbClr val="D5E2C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361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Children Center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8288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 Home, Anakapalle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611880" y="1709928"/>
            <a:ext cx="2560320" cy="146304"/>
          </a:xfrm>
          <a:prstGeom prst="rect">
            <a:avLst/>
          </a:prstGeom>
          <a:solidFill>
            <a:srgbClr val="D5E2CF"/>
          </a:solidFill>
          <a:ln w="12700">
            <a:solidFill>
              <a:srgbClr val="D5E2C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11880" y="1709928"/>
            <a:ext cx="2560320" cy="146304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63640" y="153619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2E7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 Units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263640" y="18288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25.0% share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2304288"/>
            <a:ext cx="7223760" cy="713232"/>
          </a:xfrm>
          <a:prstGeom prst="roundRect">
            <a:avLst>
              <a:gd name="adj" fmla="val 10256"/>
            </a:avLst>
          </a:prstGeom>
          <a:solidFill>
            <a:srgbClr val="EEF5EA"/>
          </a:solidFill>
          <a:ln w="9525">
            <a:solidFill>
              <a:srgbClr val="D5E2C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2377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Families Association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267004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Community, Visakhapatnam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11880" y="2551176"/>
            <a:ext cx="2560320" cy="146304"/>
          </a:xfrm>
          <a:prstGeom prst="rect">
            <a:avLst/>
          </a:prstGeom>
          <a:solidFill>
            <a:srgbClr val="D5E2CF"/>
          </a:solidFill>
          <a:ln w="12700">
            <a:solidFill>
              <a:srgbClr val="D5E2C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11880" y="2551176"/>
            <a:ext cx="2418080" cy="146304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63640" y="23774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2E7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 Units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267004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23.6% share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3145536"/>
            <a:ext cx="7223760" cy="713232"/>
          </a:xfrm>
          <a:prstGeom prst="roundRect">
            <a:avLst>
              <a:gd name="adj" fmla="val 10256"/>
            </a:avLst>
          </a:prstGeom>
          <a:solidFill>
            <a:srgbClr val="EEF5EA"/>
          </a:solidFill>
          <a:ln w="9525">
            <a:solidFill>
              <a:srgbClr val="D5E2C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32186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Helping Hands Orphanage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" y="351129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Orphanage, Visakhapatnam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11880" y="3392424"/>
            <a:ext cx="2560320" cy="146304"/>
          </a:xfrm>
          <a:prstGeom prst="rect">
            <a:avLst/>
          </a:prstGeom>
          <a:solidFill>
            <a:srgbClr val="D5E2CF"/>
          </a:solidFill>
          <a:ln w="12700">
            <a:solidFill>
              <a:srgbClr val="D5E2C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11880" y="3392424"/>
            <a:ext cx="1991360" cy="146304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263640" y="321868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2E7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 Units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263640" y="351129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19.4% share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3986784"/>
            <a:ext cx="7223760" cy="713232"/>
          </a:xfrm>
          <a:prstGeom prst="roundRect">
            <a:avLst>
              <a:gd name="adj" fmla="val 10256"/>
            </a:avLst>
          </a:prstGeom>
          <a:solidFill>
            <a:srgbClr val="EEF5EA"/>
          </a:solidFill>
          <a:ln w="9525">
            <a:solidFill>
              <a:srgbClr val="D5E2C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77240" y="405993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Hope Old Age Home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777240" y="435254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Age Home, Vizianagaram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611880" y="4233672"/>
            <a:ext cx="2560320" cy="146304"/>
          </a:xfrm>
          <a:prstGeom prst="rect">
            <a:avLst/>
          </a:prstGeom>
          <a:solidFill>
            <a:srgbClr val="D5E2CF"/>
          </a:solidFill>
          <a:ln w="12700">
            <a:solidFill>
              <a:srgbClr val="D5E2C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11880" y="4233672"/>
            <a:ext cx="1991360" cy="146304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263640" y="405993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2E7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 Units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6263640" y="435254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19.4% share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48640" y="4828032"/>
            <a:ext cx="7223760" cy="713232"/>
          </a:xfrm>
          <a:prstGeom prst="roundRect">
            <a:avLst>
              <a:gd name="adj" fmla="val 10256"/>
            </a:avLst>
          </a:prstGeom>
          <a:solidFill>
            <a:srgbClr val="EEF5EA"/>
          </a:solidFill>
          <a:ln w="9525">
            <a:solidFill>
              <a:srgbClr val="D5E2C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77240" y="490118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Shelter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777240" y="51937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Shelter, Gajuwaka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611880" y="5074920"/>
            <a:ext cx="2560320" cy="146304"/>
          </a:xfrm>
          <a:prstGeom prst="rect">
            <a:avLst/>
          </a:prstGeom>
          <a:solidFill>
            <a:srgbClr val="D5E2CF"/>
          </a:solidFill>
          <a:ln w="12700">
            <a:solidFill>
              <a:srgbClr val="D5E2C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611880" y="5074920"/>
            <a:ext cx="1280160" cy="146304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263640" y="4901184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2E7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 Units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6263640" y="519379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12.5% share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8092440" y="1463040"/>
            <a:ext cx="3547872" cy="4078224"/>
          </a:xfrm>
          <a:prstGeom prst="roundRect">
            <a:avLst>
              <a:gd name="adj" fmla="val 2577"/>
            </a:avLst>
          </a:prstGeom>
          <a:solidFill>
            <a:srgbClr val="12372A"/>
          </a:solidFill>
          <a:ln w="12700">
            <a:solidFill>
              <a:srgbClr val="12372A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366760" y="1737360"/>
            <a:ext cx="29992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E88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44.4%</a:t>
            </a:r>
            <a:endParaRPr lang="en-US" sz="4400" dirty="0"/>
          </a:p>
        </p:txBody>
      </p:sp>
      <p:sp>
        <p:nvSpPr>
          <p:cNvPr id="41" name="Text 39"/>
          <p:cNvSpPr txBox="1"/>
          <p:nvPr/>
        </p:nvSpPr>
        <p:spPr>
          <a:xfrm>
            <a:off x="8366760" y="2606040"/>
            <a:ext cx="2999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Went to children</a:t>
            </a:r>
            <a:endParaRPr lang="en-US" sz="1500" dirty="0"/>
          </a:p>
        </p:txBody>
      </p:sp>
      <p:sp>
        <p:nvSpPr>
          <p:cNvPr id="42" name="Text 40"/>
          <p:cNvSpPr txBox="1"/>
          <p:nvPr/>
        </p:nvSpPr>
        <p:spPr>
          <a:xfrm>
            <a:off x="8366760" y="3154680"/>
            <a:ext cx="2999232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AD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Children Center and Helping Hands Orphanage received 160 of the 360 units distributed. All 5 distributions are marked Completed.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Waste Redistribution System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10725912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5943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4526280" y="21031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275320" y="21031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8732520" y="2926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6126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032D8555-B49D-4CBA-F3BB-C96DC5B841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61257"/>
            <a:ext cx="10835640" cy="5645021"/>
          </a:xfrm>
          <a:prstGeom prst="rect">
            <a:avLst/>
          </a:prstGeom>
        </p:spPr>
      </p:pic>
      <p:sp>
        <p:nvSpPr>
          <p:cNvPr id="22" name="Text 41">
            <a:extLst>
              <a:ext uri="{FF2B5EF4-FFF2-40B4-BE49-F238E27FC236}">
                <a16:creationId xmlns:a16="http://schemas.microsoft.com/office/drawing/2014/main" id="{3A66D049-A5AC-A7F3-6605-4CDCDB900484}"/>
              </a:ext>
            </a:extLst>
          </p:cNvPr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Waste Redistribution System</a:t>
            </a:r>
            <a:endParaRPr lang="en-US" sz="1000" dirty="0"/>
          </a:p>
        </p:txBody>
      </p:sp>
      <p:sp>
        <p:nvSpPr>
          <p:cNvPr id="24" name="Text 41">
            <a:extLst>
              <a:ext uri="{FF2B5EF4-FFF2-40B4-BE49-F238E27FC236}">
                <a16:creationId xmlns:a16="http://schemas.microsoft.com/office/drawing/2014/main" id="{CCC6BE23-D9A8-9186-26D6-F26DC3A82450}"/>
              </a:ext>
            </a:extLst>
          </p:cNvPr>
          <p:cNvSpPr txBox="1"/>
          <p:nvPr/>
        </p:nvSpPr>
        <p:spPr>
          <a:xfrm>
            <a:off x="9919685" y="6366277"/>
            <a:ext cx="1843690" cy="2304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>
              <a:solidFill>
                <a:srgbClr val="5B6B6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                             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EXPIRY RISK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2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items expire within five days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560320" cy="3200400"/>
          </a:xfrm>
          <a:prstGeom prst="roundRect">
            <a:avLst>
              <a:gd name="adj" fmla="val 3571"/>
            </a:avLst>
          </a:prstGeom>
          <a:solidFill>
            <a:srgbClr val="EEF5EA"/>
          </a:solidFill>
          <a:ln w="19050">
            <a:solidFill>
              <a:srgbClr val="B23A3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7373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2026-10-01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031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2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Milk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5146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Dairy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9718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7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120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5204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in stock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965960" y="297180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B2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1965960" y="3520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distributed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92424" y="1554480"/>
            <a:ext cx="2560320" cy="3200400"/>
          </a:xfrm>
          <a:prstGeom prst="roundRect">
            <a:avLst>
              <a:gd name="adj" fmla="val 3571"/>
            </a:avLst>
          </a:prstGeom>
          <a:solidFill>
            <a:srgbClr val="EEF5EA"/>
          </a:solidFill>
          <a:ln w="19050">
            <a:solidFill>
              <a:srgbClr val="E8833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621024" y="17373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2026-10-02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621024" y="21031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2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Vegetable Curry</a:t>
            </a:r>
            <a:endParaRPr lang="en-US" sz="2100" dirty="0"/>
          </a:p>
        </p:txBody>
      </p:sp>
      <p:sp>
        <p:nvSpPr>
          <p:cNvPr id="15" name="Text 13"/>
          <p:cNvSpPr txBox="1"/>
          <p:nvPr/>
        </p:nvSpPr>
        <p:spPr>
          <a:xfrm>
            <a:off x="3621024" y="25146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Cooked Food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621024" y="29718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7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150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3621024" y="35204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in stock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809744" y="297180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8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3000" dirty="0"/>
          </a:p>
        </p:txBody>
      </p:sp>
      <p:sp>
        <p:nvSpPr>
          <p:cNvPr id="19" name="Text 17"/>
          <p:cNvSpPr txBox="1"/>
          <p:nvPr/>
        </p:nvSpPr>
        <p:spPr>
          <a:xfrm>
            <a:off x="4809744" y="3520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distributed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36208" y="1554480"/>
            <a:ext cx="2560320" cy="3200400"/>
          </a:xfrm>
          <a:prstGeom prst="roundRect">
            <a:avLst>
              <a:gd name="adj" fmla="val 3571"/>
            </a:avLst>
          </a:prstGeom>
          <a:solidFill>
            <a:srgbClr val="EEF5EA"/>
          </a:solidFill>
          <a:ln w="19050">
            <a:solidFill>
              <a:srgbClr val="E8833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64808" y="17373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2026-10-03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464808" y="21031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2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Bread</a:t>
            </a:r>
            <a:endParaRPr lang="en-US" sz="2100" dirty="0"/>
          </a:p>
        </p:txBody>
      </p:sp>
      <p:sp>
        <p:nvSpPr>
          <p:cNvPr id="23" name="Text 21"/>
          <p:cNvSpPr txBox="1"/>
          <p:nvPr/>
        </p:nvSpPr>
        <p:spPr>
          <a:xfrm>
            <a:off x="6464808" y="25146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Bakery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464808" y="29718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7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</a:t>
            </a:r>
            <a:endParaRPr lang="en-US" sz="3000" dirty="0"/>
          </a:p>
        </p:txBody>
      </p:sp>
      <p:sp>
        <p:nvSpPr>
          <p:cNvPr id="25" name="Text 23"/>
          <p:cNvSpPr txBox="1"/>
          <p:nvPr/>
        </p:nvSpPr>
        <p:spPr>
          <a:xfrm>
            <a:off x="6464808" y="35204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in stock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7653528" y="297180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8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3000" dirty="0"/>
          </a:p>
        </p:txBody>
      </p:sp>
      <p:sp>
        <p:nvSpPr>
          <p:cNvPr id="27" name="Text 25"/>
          <p:cNvSpPr txBox="1"/>
          <p:nvPr/>
        </p:nvSpPr>
        <p:spPr>
          <a:xfrm>
            <a:off x="7653528" y="3520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distributed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9079992" y="1554480"/>
            <a:ext cx="2560320" cy="3200400"/>
          </a:xfrm>
          <a:prstGeom prst="roundRect">
            <a:avLst>
              <a:gd name="adj" fmla="val 3571"/>
            </a:avLst>
          </a:prstGeom>
          <a:solidFill>
            <a:srgbClr val="EEF5EA"/>
          </a:solidFill>
          <a:ln w="19050">
            <a:solidFill>
              <a:srgbClr val="E8833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308592" y="17373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2026-10-05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9308592" y="21031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2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Fruits</a:t>
            </a:r>
            <a:endParaRPr lang="en-US" sz="2100" dirty="0"/>
          </a:p>
        </p:txBody>
      </p:sp>
      <p:sp>
        <p:nvSpPr>
          <p:cNvPr id="31" name="Text 29"/>
          <p:cNvSpPr txBox="1"/>
          <p:nvPr/>
        </p:nvSpPr>
        <p:spPr>
          <a:xfrm>
            <a:off x="9308592" y="25146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Food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9308592" y="29718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7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</a:t>
            </a:r>
            <a:endParaRPr lang="en-US" sz="3000" dirty="0"/>
          </a:p>
        </p:txBody>
      </p:sp>
      <p:sp>
        <p:nvSpPr>
          <p:cNvPr id="33" name="Text 31"/>
          <p:cNvSpPr txBox="1"/>
          <p:nvPr/>
        </p:nvSpPr>
        <p:spPr>
          <a:xfrm>
            <a:off x="9308592" y="35204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in stock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10497312" y="297180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8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</a:t>
            </a:r>
            <a:endParaRPr lang="en-US" sz="3000" dirty="0"/>
          </a:p>
        </p:txBody>
      </p:sp>
      <p:sp>
        <p:nvSpPr>
          <p:cNvPr id="35" name="Text 33"/>
          <p:cNvSpPr txBox="1"/>
          <p:nvPr/>
        </p:nvSpPr>
        <p:spPr>
          <a:xfrm>
            <a:off x="10497312" y="3520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distributed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48640" y="5074920"/>
            <a:ext cx="11091672" cy="1051560"/>
          </a:xfrm>
          <a:prstGeom prst="roundRect">
            <a:avLst>
              <a:gd name="adj" fmla="val 8696"/>
            </a:avLst>
          </a:prstGeom>
          <a:solidFill>
            <a:srgbClr val="12372A"/>
          </a:solidFill>
          <a:ln w="12700">
            <a:solidFill>
              <a:srgbClr val="12372A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22960" y="5120640"/>
            <a:ext cx="105430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 of the 8 food items expire between 1 and 5 October 2026 (counted from 2026-10-01). The other four (Rice, Wheat, Dal, Biscuits) last until 15 Oct 2026 or later. Expiry-first distribution is the clearest improvement.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Waste Redistribution System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10725912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EXECUTION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2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analytical methodology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20440" cy="3840480"/>
          </a:xfrm>
          <a:prstGeom prst="roundRect">
            <a:avLst>
              <a:gd name="adj" fmla="val 2597"/>
            </a:avLst>
          </a:prstGeom>
          <a:solidFill>
            <a:srgbClr val="EEF5EA"/>
          </a:solidFill>
          <a:ln w="9525">
            <a:solidFill>
              <a:srgbClr val="D5E2C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28800"/>
            <a:ext cx="640080" cy="640080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1993392"/>
            <a:ext cx="310896" cy="31089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26974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LEVEL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0175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2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Retrieval and aggregates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61188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with WHERE filters, and SUM, AVG, COUNT, MAX and MIN for totals, averages and extremes.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343400" y="1554480"/>
            <a:ext cx="3520440" cy="3840480"/>
          </a:xfrm>
          <a:prstGeom prst="roundRect">
            <a:avLst>
              <a:gd name="adj" fmla="val 2597"/>
            </a:avLst>
          </a:prstGeom>
          <a:solidFill>
            <a:srgbClr val="EEF5EA"/>
          </a:solidFill>
          <a:ln w="9525">
            <a:solidFill>
              <a:srgbClr val="D5E2C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17720" y="1828800"/>
            <a:ext cx="640080" cy="640080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2312" y="1993392"/>
            <a:ext cx="310896" cy="31089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617720" y="26974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 LEVEL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4617720" y="30175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2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Joins and grouping</a:t>
            </a:r>
            <a:endParaRPr lang="en-US" sz="2000" dirty="0"/>
          </a:p>
        </p:txBody>
      </p:sp>
      <p:sp>
        <p:nvSpPr>
          <p:cNvPr id="15" name="Text 11"/>
          <p:cNvSpPr txBox="1"/>
          <p:nvPr/>
        </p:nvSpPr>
        <p:spPr>
          <a:xfrm>
            <a:off x="4617720" y="361188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and LEFT JOIN across 2 to 5 tables, with GROUP BY, HAVING, ORDER BY and LIMIT for rankings.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8138160" y="1554480"/>
            <a:ext cx="3520440" cy="3840480"/>
          </a:xfrm>
          <a:prstGeom prst="roundRect">
            <a:avLst>
              <a:gd name="adj" fmla="val 2597"/>
            </a:avLst>
          </a:prstGeom>
          <a:solidFill>
            <a:srgbClr val="E3EFDD"/>
          </a:solidFill>
          <a:ln w="9525">
            <a:solidFill>
              <a:srgbClr val="D5E2CF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412480" y="1828800"/>
            <a:ext cx="640080" cy="640080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7072" y="1993392"/>
            <a:ext cx="310896" cy="310896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412480" y="26974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LEVEL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8412480" y="30175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2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Subqueries and views</a:t>
            </a:r>
            <a:endParaRPr lang="en-US" sz="2000" dirty="0"/>
          </a:p>
        </p:txBody>
      </p:sp>
      <p:sp>
        <p:nvSpPr>
          <p:cNvPr id="21" name="Text 16"/>
          <p:cNvSpPr txBox="1"/>
          <p:nvPr/>
        </p:nvSpPr>
        <p:spPr>
          <a:xfrm>
            <a:off x="8412480" y="361188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subqueries, NOT IN checks, a reporting VIEW and stored procedures with parameters.</a:t>
            </a:r>
            <a:endParaRPr lang="en-US" sz="1400" dirty="0"/>
          </a:p>
        </p:txBody>
      </p:sp>
      <p:sp>
        <p:nvSpPr>
          <p:cNvPr id="22" name="Text 17"/>
          <p:cNvSpPr txBox="1"/>
          <p:nvPr/>
        </p:nvSpPr>
        <p:spPr>
          <a:xfrm>
            <a:off x="548640" y="56692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statements in total: 30 queries (including 1 view) and 2 stored procedures.</a:t>
            </a:r>
            <a:endParaRPr lang="en-US" sz="1400" dirty="0"/>
          </a:p>
        </p:txBody>
      </p:sp>
      <p:sp>
        <p:nvSpPr>
          <p:cNvPr id="23" name="Text 1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Waste Redistribution System</a:t>
            </a:r>
            <a:endParaRPr lang="en-US" sz="1000" dirty="0"/>
          </a:p>
        </p:txBody>
      </p:sp>
      <p:sp>
        <p:nvSpPr>
          <p:cNvPr id="24" name="Text 19"/>
          <p:cNvSpPr txBox="1"/>
          <p:nvPr/>
        </p:nvSpPr>
        <p:spPr>
          <a:xfrm>
            <a:off x="10725912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PROJECT STILL NEEDS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2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Gaps found in the current version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EEF5EA"/>
          </a:solidFill>
          <a:ln w="9525">
            <a:solidFill>
              <a:srgbClr val="D5E2C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37360"/>
            <a:ext cx="548640" cy="548640"/>
          </a:xfrm>
          <a:prstGeom prst="ellipse">
            <a:avLst/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874520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73736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Automatic stock updates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423160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FOOD_ITEMS.quantity is not reduced when food is distributed. Triggers or transactions should keep stock in sync.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43400" y="150876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EEF5EA"/>
          </a:solidFill>
          <a:ln w="9525">
            <a:solidFill>
              <a:srgbClr val="D5E2C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0" y="1737360"/>
            <a:ext cx="548640" cy="548640"/>
          </a:xfrm>
          <a:prstGeom prst="ellipse">
            <a:avLst/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187452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257800" y="173736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Expiry alerts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4572000" y="2423160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query or scheduled event flags items close to expiry, such as Milk expiring 2026-10-01.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138160" y="150876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EEF5EA"/>
          </a:solidFill>
          <a:ln w="9525">
            <a:solidFill>
              <a:srgbClr val="D5E2CF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66760" y="1737360"/>
            <a:ext cx="548640" cy="548640"/>
          </a:xfrm>
          <a:prstGeom prst="ellipse">
            <a:avLst/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3920" y="187452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052560" y="173736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Requests and matching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8366760" y="2423160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Recipients cannot raise requests, and nothing matches surplus to need or priority.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548640" y="393192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EEF5EA"/>
          </a:solidFill>
          <a:ln w="9525">
            <a:solidFill>
              <a:srgbClr val="D5E2CF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77240" y="4160520"/>
            <a:ext cx="548640" cy="548640"/>
          </a:xfrm>
          <a:prstGeom prst="ellipse">
            <a:avLst/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4297680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463040" y="416052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Pickup and quality checks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777240" y="4846320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records of who collected food or whether it passed a safety check.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4343400" y="393192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EEF5EA"/>
          </a:solidFill>
          <a:ln w="9525">
            <a:solidFill>
              <a:srgbClr val="D5E2CF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572000" y="4160520"/>
            <a:ext cx="548640" cy="548640"/>
          </a:xfrm>
          <a:prstGeom prst="ellipse">
            <a:avLst/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09160" y="4297680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257800" y="416052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integrity</a:t>
            </a:r>
            <a:endParaRPr lang="en-US" sz="1600" dirty="0"/>
          </a:p>
        </p:txBody>
      </p:sp>
      <p:sp>
        <p:nvSpPr>
          <p:cNvPr id="28" name="Text 21"/>
          <p:cNvSpPr txBox="1"/>
          <p:nvPr/>
        </p:nvSpPr>
        <p:spPr>
          <a:xfrm>
            <a:off x="4572000" y="4846320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CHECK constraints, lookup tables for status and category, units of measure, NOT NULL rules and indexes.</a:t>
            </a:r>
            <a:endParaRPr lang="en-US" sz="1250" dirty="0"/>
          </a:p>
        </p:txBody>
      </p:sp>
      <p:sp>
        <p:nvSpPr>
          <p:cNvPr id="29" name="Shape 22"/>
          <p:cNvSpPr/>
          <p:nvPr/>
        </p:nvSpPr>
        <p:spPr>
          <a:xfrm>
            <a:off x="8138160" y="393192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EEF5EA"/>
          </a:solidFill>
          <a:ln w="9525">
            <a:solidFill>
              <a:srgbClr val="D5E2CF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366760" y="4160520"/>
            <a:ext cx="548640" cy="548640"/>
          </a:xfrm>
          <a:prstGeom prst="ellipse">
            <a:avLst/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03920" y="4297680"/>
            <a:ext cx="274320" cy="27432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9052560" y="416052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and audit</a:t>
            </a:r>
            <a:endParaRPr lang="en-US" sz="1600" dirty="0"/>
          </a:p>
        </p:txBody>
      </p:sp>
      <p:sp>
        <p:nvSpPr>
          <p:cNvPr id="33" name="Text 25"/>
          <p:cNvSpPr txBox="1"/>
          <p:nvPr/>
        </p:nvSpPr>
        <p:spPr>
          <a:xfrm>
            <a:off x="8366760" y="4846320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user roles with GRANT permissions and an audit log of changes.</a:t>
            </a:r>
            <a:endParaRPr lang="en-US" sz="1250" dirty="0"/>
          </a:p>
        </p:txBody>
      </p:sp>
      <p:sp>
        <p:nvSpPr>
          <p:cNvPr id="34" name="Text 2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Waste Redistribution System</a:t>
            </a:r>
            <a:endParaRPr lang="en-US" sz="1000" dirty="0"/>
          </a:p>
        </p:txBody>
      </p:sp>
      <p:sp>
        <p:nvSpPr>
          <p:cNvPr id="35" name="Text 27"/>
          <p:cNvSpPr txBox="1"/>
          <p:nvPr/>
        </p:nvSpPr>
        <p:spPr>
          <a:xfrm>
            <a:off x="10725912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IMPROVEMENTS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2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three-phase roadmap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520440" cy="4617720"/>
          </a:xfrm>
          <a:prstGeom prst="roundRect">
            <a:avLst>
              <a:gd name="adj" fmla="val 2597"/>
            </a:avLst>
          </a:prstGeom>
          <a:solidFill>
            <a:srgbClr val="EEF5EA"/>
          </a:solidFill>
          <a:ln w="9525">
            <a:solidFill>
              <a:srgbClr val="D5E2C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37360"/>
            <a:ext cx="640080" cy="640080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17373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2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Harden the database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697480"/>
            <a:ext cx="29718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to update stock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Indexes and CHECK constraints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expiry-alert event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REQUESTS, PICKUP, VERIFICATION and EXPIRY tables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43400" y="1508760"/>
            <a:ext cx="3520440" cy="4617720"/>
          </a:xfrm>
          <a:prstGeom prst="roundRect">
            <a:avLst>
              <a:gd name="adj" fmla="val 2597"/>
            </a:avLst>
          </a:prstGeom>
          <a:solidFill>
            <a:srgbClr val="E3EFDD"/>
          </a:solidFill>
          <a:ln w="9525">
            <a:solidFill>
              <a:srgbClr val="D5E2C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17720" y="1737360"/>
            <a:ext cx="640080" cy="640080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1772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5394960" y="17373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2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the application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2697480"/>
            <a:ext cx="29718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and mobile app with a REST API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or WhatsApp notifications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in Power BI or Tableau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login for donors, NGOs, volunteers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138160" y="1508760"/>
            <a:ext cx="3520440" cy="4617720"/>
          </a:xfrm>
          <a:prstGeom prst="roundRect">
            <a:avLst>
              <a:gd name="adj" fmla="val 2597"/>
            </a:avLst>
          </a:prstGeom>
          <a:solidFill>
            <a:srgbClr val="EEF5EA"/>
          </a:solidFill>
          <a:ln w="9525">
            <a:solidFill>
              <a:srgbClr val="D5E2C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12480" y="1737360"/>
            <a:ext cx="640080" cy="640080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41248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9189720" y="17373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2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intelligence and scale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412480" y="2697480"/>
            <a:ext cx="29718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routing for pickups (LOCATIONS lat/long)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forecasting with machine learning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cold-chain temperature tracking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QR-code verification; multi-city cloud deployment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Waste Redistribution System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0725912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OUTLOOK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2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recommendations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20440" cy="42062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D5E2C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28800"/>
            <a:ext cx="640080" cy="640080"/>
          </a:xfrm>
          <a:prstGeom prst="ellipse">
            <a:avLst/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1993392"/>
            <a:ext cx="310896" cy="31089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27432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12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Expiry-first distribution</a:t>
            </a:r>
            <a:endParaRPr lang="en-US" sz="21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657600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Milk, Vegetable Curry, Bread and Fruits out first, and add an automatic alert for items close to expiry.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343400" y="1554480"/>
            <a:ext cx="3520440" cy="42062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D5E2C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17720" y="1828800"/>
            <a:ext cx="640080" cy="640080"/>
          </a:xfrm>
          <a:prstGeom prst="ellipse">
            <a:avLst/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2312" y="1993392"/>
            <a:ext cx="310896" cy="31089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17720" y="27432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12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Balance the centers</a:t>
            </a:r>
            <a:endParaRPr lang="en-US" sz="2100" dirty="0"/>
          </a:p>
        </p:txBody>
      </p:sp>
      <p:sp>
        <p:nvSpPr>
          <p:cNvPr id="13" name="Text 9"/>
          <p:cNvSpPr txBox="1"/>
          <p:nvPr/>
        </p:nvSpPr>
        <p:spPr>
          <a:xfrm>
            <a:off x="4617720" y="3657600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stock from the Central Food Center (80% full) towards North and Community Food Hub, and add volunteers at the Hub.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138160" y="1554480"/>
            <a:ext cx="3520440" cy="42062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D5E2C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12480" y="1828800"/>
            <a:ext cx="640080" cy="640080"/>
          </a:xfrm>
          <a:prstGeom prst="ellipse">
            <a:avLst/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7072" y="1993392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412480" y="27432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12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Raise the distribution rate</a:t>
            </a:r>
            <a:endParaRPr lang="en-US" sz="2100" dirty="0"/>
          </a:p>
        </p:txBody>
      </p:sp>
      <p:sp>
        <p:nvSpPr>
          <p:cNvPr id="18" name="Text 13"/>
          <p:cNvSpPr txBox="1"/>
          <p:nvPr/>
        </p:nvSpPr>
        <p:spPr>
          <a:xfrm>
            <a:off x="8412480" y="3657600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28.8% of donations reach recipients. Add more recipients and regular delivery schedules to close the 890-unit gap.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Waste Redistribution System</a:t>
            </a:r>
            <a:endParaRPr lang="en-US" sz="1000" dirty="0"/>
          </a:p>
        </p:txBody>
      </p:sp>
      <p:sp>
        <p:nvSpPr>
          <p:cNvPr id="20" name="Text 15"/>
          <p:cNvSpPr txBox="1"/>
          <p:nvPr/>
        </p:nvSpPr>
        <p:spPr>
          <a:xfrm>
            <a:off x="10725912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23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548640" cy="548640"/>
          </a:xfrm>
          <a:prstGeom prst="ellipse">
            <a:avLst/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16916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8-table MySQL database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208483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CAD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Donors to recipients, fully linked with primary and foreign keys.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926080"/>
            <a:ext cx="548640" cy="548640"/>
          </a:xfrm>
          <a:prstGeom prst="ellipse">
            <a:avLst/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926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8803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Data-driven insights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327355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CAD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Donor, food, center and recipient analysis shows where food is donated, stored, delivered and at risk of expiring.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4114800"/>
            <a:ext cx="548640" cy="548640"/>
          </a:xfrm>
          <a:prstGeom prst="ellipse">
            <a:avLst/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4114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40690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Clear path forward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446227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CAD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triggers, expiry alerts, requests, pickup and verification would make it a production-ready network.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6692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88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you. Questions?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1606</Words>
  <Application>Microsoft Office PowerPoint</Application>
  <PresentationFormat>Widescreen</PresentationFormat>
  <Paragraphs>338</Paragraphs>
  <Slides>19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Calibri</vt:lpstr>
      <vt:lpstr>Cambria</vt:lpstr>
      <vt:lpstr>Courier New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Food Waste Redistribution System</dc:title>
  <dc:subject>PptxGenJS Presentation</dc:subject>
  <dc:creator>PptxGenJS</dc:creator>
  <cp:lastModifiedBy>Rama Lakshmi</cp:lastModifiedBy>
  <cp:revision>2</cp:revision>
  <dcterms:created xsi:type="dcterms:W3CDTF">2026-10-01T09:28:04Z</dcterms:created>
  <dcterms:modified xsi:type="dcterms:W3CDTF">2026-10-01T10:33:34Z</dcterms:modified>
</cp:coreProperties>
</file>